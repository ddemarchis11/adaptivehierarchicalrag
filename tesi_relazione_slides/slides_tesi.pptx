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4630400" cy="8229600"/>
  <p:notesSz cx="8229600" cy="14630400"/>
  <p:embeddedFontLst>
    <p:embeddedFont>
      <p:font typeface="Inter"/>
      <p:regular r:id="rId32"/>
    </p:embeddedFont>
    <p:embeddedFont>
      <p:font typeface="Inter"/>
      <p:regular r:id="rId33"/>
    </p:embeddedFont>
    <p:embeddedFont>
      <p:font typeface="Inter"/>
      <p:regular r:id="rId34"/>
    </p:embeddedFont>
    <p:embeddedFont>
      <p:font typeface="Inter"/>
      <p:regular r:id="rId35"/>
    </p:embeddedFont>
    <p:embeddedFont>
      <p:font typeface="Inter"/>
      <p:regular r:id="rId36"/>
    </p:embeddedFont>
    <p:embeddedFont>
      <p:font typeface="Inter"/>
      <p:regular r:id="rId37"/>
    </p:embeddedFont>
    <p:embeddedFont>
      <p:font typeface="Inter"/>
      <p:regular r:id="rId38"/>
    </p:embeddedFont>
    <p:embeddedFont>
      <p:font typeface="Inter"/>
      <p:regular r:id="rId3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4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5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6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8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9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svg"/><Relationship Id="rId4" Type="http://schemas.openxmlformats.org/officeDocument/2006/relationships/image" Target="../media/image-21-4.png"/><Relationship Id="rId5" Type="http://schemas.openxmlformats.org/officeDocument/2006/relationships/image" Target="../media/image-21-5.svg"/><Relationship Id="rId6" Type="http://schemas.openxmlformats.org/officeDocument/2006/relationships/image" Target="../media/image-21-6.png"/><Relationship Id="rId7" Type="http://schemas.openxmlformats.org/officeDocument/2006/relationships/image" Target="../media/image-21-7.svg"/><Relationship Id="rId8" Type="http://schemas.openxmlformats.org/officeDocument/2006/relationships/slideLayout" Target="../slideLayouts/slideLayout22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slideLayout" Target="../slideLayouts/slideLayout2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4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93790" y="2727960"/>
            <a:ext cx="2858214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5" name="Text 1"/>
          <p:cNvSpPr/>
          <p:nvPr/>
        </p:nvSpPr>
        <p:spPr>
          <a:xfrm>
            <a:off x="929878" y="2795945"/>
            <a:ext cx="258603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TESI DI LAUREA MAGISTRALE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3765352" y="2720340"/>
            <a:ext cx="1651516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909060" y="2795945"/>
            <a:ext cx="136409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A.A. 2024/2025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93790" y="3252549"/>
            <a:ext cx="73292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RAG Adattivo e Gerarchico</a:t>
            </a:r>
            <a:endParaRPr lang="en-US" sz="4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4308515"/>
            <a:ext cx="340162" cy="340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0906" y="4301490"/>
            <a:ext cx="28992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 Marchis Domenico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530906" y="5146238"/>
            <a:ext cx="28992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8695" y="4308515"/>
            <a:ext cx="340162" cy="3401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50800" y="4301490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Prof. Torlone Riccardo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5450800" y="5146238"/>
            <a:ext cx="28994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688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Agenda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77749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32534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06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Prerequisiti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79726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Retrieval, Embeddings, Transformer, Hybrid Search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77749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132534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06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RAG &amp; Chunking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79726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Definizione, Strategie, Criticità, Strumenti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77749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132534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06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Architetture RAG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79726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Naive, Hierarchical, CoT, Confronto Sperimentale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1990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274945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4492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Data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93967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Tabelle, Data Lake, De-Strutturazione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1990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274945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4492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Takeaway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593967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Soluzione Go-To e Conclusioni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74288"/>
            <a:ext cx="1642705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42273"/>
            <a:ext cx="137052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INTRODUZIONE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9125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Retrieval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005" y="2398395"/>
            <a:ext cx="2994184" cy="2994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5420" y="56760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Concettualmente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16648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 vengono gestite le </a:t>
            </a:r>
            <a:pPr algn="ctr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domande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restituiti i risultati in un motore di ricerca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108" y="2398395"/>
            <a:ext cx="2994184" cy="2994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56760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Ricerca Full - Text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16648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Overlap lessicale trai termini della query e quelli presenti nei documenti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211" y="2398395"/>
            <a:ext cx="2994184" cy="2994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39626" y="56760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Ricerca Semantica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616648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Vettori numerici che catturano il significato semantico di un dato testo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670" y="624245"/>
            <a:ext cx="1632704" cy="422434"/>
          </a:xfrm>
          <a:prstGeom prst="roundRect">
            <a:avLst>
              <a:gd name="adj" fmla="val 1792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3806" y="691753"/>
            <a:ext cx="1362432" cy="287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INTRODUZIONE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8670" y="1136213"/>
            <a:ext cx="8544878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RAG - Retrieval Augmented Generation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788670" y="2287191"/>
            <a:ext cx="7475815" cy="1446848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9150" y="2317671"/>
            <a:ext cx="901422" cy="1385888"/>
          </a:xfrm>
          <a:prstGeom prst="roundRect">
            <a:avLst>
              <a:gd name="adj" fmla="val 6443"/>
            </a:avLst>
          </a:prstGeom>
          <a:solidFill>
            <a:srgbClr val="DADBF1"/>
          </a:solidFill>
          <a:ln/>
        </p:spPr>
      </p:sp>
      <p:sp>
        <p:nvSpPr>
          <p:cNvPr id="7" name="Text 5"/>
          <p:cNvSpPr/>
          <p:nvPr/>
        </p:nvSpPr>
        <p:spPr>
          <a:xfrm>
            <a:off x="1097042" y="2799278"/>
            <a:ext cx="338018" cy="422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944410" y="2542937"/>
            <a:ext cx="4192548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Mitigazione delle Allucinazioni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44410" y="3118842"/>
            <a:ext cx="6064329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LM 'organizza' l'informazione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88670" y="3957876"/>
            <a:ext cx="7475815" cy="1446848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9150" y="3988356"/>
            <a:ext cx="901422" cy="1385888"/>
          </a:xfrm>
          <a:prstGeom prst="roundRect">
            <a:avLst>
              <a:gd name="adj" fmla="val 6443"/>
            </a:avLst>
          </a:prstGeom>
          <a:solidFill>
            <a:srgbClr val="DADB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042" y="4469963"/>
            <a:ext cx="338018" cy="422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944410" y="4213622"/>
            <a:ext cx="3102293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Dinamismo del Corpus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44410" y="4789527"/>
            <a:ext cx="6064329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successivi non necessari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88670" y="5628561"/>
            <a:ext cx="7475815" cy="1446848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150" y="5659041"/>
            <a:ext cx="901422" cy="1385888"/>
          </a:xfrm>
          <a:prstGeom prst="roundRect">
            <a:avLst>
              <a:gd name="adj" fmla="val 6443"/>
            </a:avLst>
          </a:prstGeom>
          <a:solidFill>
            <a:srgbClr val="DADBF1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042" y="6140648"/>
            <a:ext cx="338018" cy="422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1944410" y="5884307"/>
            <a:ext cx="2817019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Criticità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44410" y="6460212"/>
            <a:ext cx="6064329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Collapse, Hubness, Chunk Dependency</a:t>
            </a:r>
            <a:endParaRPr lang="en-US" sz="17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005" y="2287191"/>
            <a:ext cx="3155037" cy="50663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65365"/>
            <a:ext cx="1642705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033349"/>
            <a:ext cx="137052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INTRODUZIONE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48233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Domanda di Ricerca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389471"/>
            <a:ext cx="680442" cy="6804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3534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Obiettivo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84382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Individuare le scelte progettuali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generalmente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più efficaci 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389471"/>
            <a:ext cx="680442" cy="6804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43534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Dimensioni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484382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Analisi delle Architetture, Indicizzazione e Strategie di Chunking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389471"/>
            <a:ext cx="680442" cy="6804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43534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Focus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484382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Dominio, tipologia di Documenti e query in ingresso non fissate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4139922" y="5909786"/>
            <a:ext cx="63505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i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soluzione più semplice è spesso la migliore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312670"/>
            <a:ext cx="1642705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380655"/>
            <a:ext cx="137052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INTRODUZIONE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82963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Setup Sperimentale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736777"/>
            <a:ext cx="680442" cy="6804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7007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Generic Domain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1911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 eterogenei, documenti e query variabili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736777"/>
            <a:ext cx="680442" cy="6804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4700707"/>
            <a:ext cx="29417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 dei Dataset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51911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di Retrieval e non RAG, dimensione, costruzione…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736777"/>
            <a:ext cx="680442" cy="6804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47007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Judge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51911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Valuta retrieval e capacità del modello di organizzare l'informazione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526" y="640199"/>
            <a:ext cx="1617821" cy="417314"/>
          </a:xfrm>
          <a:prstGeom prst="roundRect">
            <a:avLst>
              <a:gd name="adj" fmla="val 179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5472" y="707112"/>
            <a:ext cx="134993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INTRODUZIONE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1526" y="1145381"/>
            <a:ext cx="4466153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Judge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81526" y="2230993"/>
            <a:ext cx="4900017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526" y="2832854"/>
            <a:ext cx="4900017" cy="27609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33993" y="2280523"/>
            <a:ext cx="3701296" cy="2094071"/>
          </a:xfrm>
          <a:prstGeom prst="roundRect">
            <a:avLst>
              <a:gd name="adj" fmla="val 447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4856" y="2511385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4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answer_correctness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464856" y="3080028"/>
            <a:ext cx="3239572" cy="106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Correttezza complessiva della risposta rispetto alla domanda e alla gold answer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155079" y="2280523"/>
            <a:ext cx="3701296" cy="2094071"/>
          </a:xfrm>
          <a:prstGeom prst="roundRect">
            <a:avLst>
              <a:gd name="adj" fmla="val 447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85941" y="2511385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E98F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evidence_coverage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0385941" y="3080028"/>
            <a:ext cx="3239572" cy="106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Copertura di tutti i fatti necessari presenti nella gold answer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33993" y="4594384"/>
            <a:ext cx="7622381" cy="1384935"/>
          </a:xfrm>
          <a:prstGeom prst="roundRect">
            <a:avLst>
              <a:gd name="adj" fmla="val 67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56" y="4825246"/>
            <a:ext cx="320659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4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faithfulness_to_context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464856" y="5393888"/>
            <a:ext cx="7160657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Affermazioni in output supportate dal contesto recuperato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906905" y="6556296"/>
            <a:ext cx="10816590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Valutare RAG non è solo bontà del Retrieval, ma anche qualità della generazione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781526" y="7234833"/>
            <a:ext cx="1306734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</a:t>
            </a:r>
            <a:pPr algn="ctr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F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Qualità</a:t>
            </a:r>
            <a:pPr algn="ctr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</a:t>
            </a:r>
            <a:pPr algn="ctr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🔵</a:t>
            </a:r>
            <a:pPr algn="ctr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8797" y="926425"/>
            <a:ext cx="1035368" cy="331351"/>
          </a:xfrm>
          <a:prstGeom prst="roundRect">
            <a:avLst>
              <a:gd name="adj" fmla="val 19006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61192" y="982623"/>
            <a:ext cx="810577" cy="218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48797" y="1319689"/>
            <a:ext cx="3748564" cy="46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Generalità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848797" y="2194679"/>
            <a:ext cx="6237803" cy="1155978"/>
          </a:xfrm>
          <a:prstGeom prst="roundRect">
            <a:avLst>
              <a:gd name="adj" fmla="val 6810"/>
            </a:avLst>
          </a:prstGeom>
          <a:solidFill>
            <a:srgbClr val="FCF2B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01" y="2419826"/>
            <a:ext cx="292775" cy="23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6380" y="2396252"/>
            <a:ext cx="2372678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Chunk troppo piccoli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16380" y="2843927"/>
            <a:ext cx="5382816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Perdono contesto, non autoesplicativi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551420" y="2194679"/>
            <a:ext cx="6237803" cy="1155978"/>
          </a:xfrm>
          <a:prstGeom prst="roundRect">
            <a:avLst>
              <a:gd name="adj" fmla="val 6810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824" y="2419826"/>
            <a:ext cx="292775" cy="2341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19003" y="2396252"/>
            <a:ext cx="2348389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Chunk troppo grandi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219003" y="2843927"/>
            <a:ext cx="5382816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Mescolano concetti, aumentano il rumore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48797" y="3972699"/>
            <a:ext cx="93702" cy="93702"/>
          </a:xfrm>
          <a:prstGeom prst="roundRect">
            <a:avLst>
              <a:gd name="adj" fmla="val 487930"/>
            </a:avLst>
          </a:prstGeom>
          <a:solidFill>
            <a:srgbClr val="4950BC"/>
          </a:solidFill>
          <a:ln/>
        </p:spPr>
      </p:sp>
      <p:sp>
        <p:nvSpPr>
          <p:cNvPr id="14" name="Text 10"/>
          <p:cNvSpPr/>
          <p:nvPr/>
        </p:nvSpPr>
        <p:spPr>
          <a:xfrm>
            <a:off x="1097280" y="3873222"/>
            <a:ext cx="234279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Perché?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097280" y="4320897"/>
            <a:ext cx="5185886" cy="547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Window, Embedding su testi lunghi diluiscono l'informazione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48797" y="5277505"/>
            <a:ext cx="93702" cy="93702"/>
          </a:xfrm>
          <a:prstGeom prst="roundRect">
            <a:avLst>
              <a:gd name="adj" fmla="val 487930"/>
            </a:avLst>
          </a:prstGeom>
          <a:solidFill>
            <a:srgbClr val="4950BC"/>
          </a:solidFill>
          <a:ln/>
        </p:spPr>
      </p:sp>
      <p:sp>
        <p:nvSpPr>
          <p:cNvPr id="17" name="Text 13"/>
          <p:cNvSpPr/>
          <p:nvPr/>
        </p:nvSpPr>
        <p:spPr>
          <a:xfrm>
            <a:off x="1097280" y="5178028"/>
            <a:ext cx="234279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Problemi Correlati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097280" y="5625703"/>
            <a:ext cx="5185886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Hubness, Semantic Collapse, Chunk Dependency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848797" y="6308586"/>
            <a:ext cx="93702" cy="93702"/>
          </a:xfrm>
          <a:prstGeom prst="roundRect">
            <a:avLst>
              <a:gd name="adj" fmla="val 487930"/>
            </a:avLst>
          </a:prstGeom>
          <a:solidFill>
            <a:srgbClr val="4950BC"/>
          </a:solidFill>
          <a:ln/>
        </p:spPr>
      </p:sp>
      <p:sp>
        <p:nvSpPr>
          <p:cNvPr id="20" name="Text 16"/>
          <p:cNvSpPr/>
          <p:nvPr/>
        </p:nvSpPr>
        <p:spPr>
          <a:xfrm>
            <a:off x="1097280" y="6209109"/>
            <a:ext cx="2565916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Sentence Transformer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097280" y="6656784"/>
            <a:ext cx="5185886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Encoder, Contrastive Losses, Text - only</a:t>
            </a:r>
            <a:endParaRPr lang="en-US" sz="14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692" y="3873222"/>
            <a:ext cx="4883587" cy="3255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66888"/>
            <a:ext cx="1253490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834872"/>
            <a:ext cx="9813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8385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Strategie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90994"/>
            <a:ext cx="4347567" cy="907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325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815483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Finestra costante. Semplice ma frammenta frasi e parole.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190994"/>
            <a:ext cx="4347567" cy="907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8171" y="4325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Recursive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368171" y="4815483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Gerarchia di separatori. Preserva paragrafi.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Soluzione go-to.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190994"/>
            <a:ext cx="4347567" cy="9072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5738" y="4325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Semantic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715738" y="4815483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Soglie adattive su similarità coseno. Overhead computazionale elevato.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5273873" y="6108263"/>
            <a:ext cx="40826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Recursive &gt; Fixed &gt; Semantic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906" y="635079"/>
            <a:ext cx="1213961" cy="408384"/>
          </a:xfrm>
          <a:prstGeom prst="roundRect">
            <a:avLst>
              <a:gd name="adj" fmla="val 18077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00708" y="700921"/>
            <a:ext cx="950357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8906" y="1128474"/>
            <a:ext cx="4394121" cy="54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Semantic Chunking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768906" y="1996916"/>
            <a:ext cx="6439853" cy="1617226"/>
          </a:xfrm>
          <a:prstGeom prst="roundRect">
            <a:avLst>
              <a:gd name="adj" fmla="val 57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196" y="2224207"/>
            <a:ext cx="274629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Idea chiave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996196" y="2695099"/>
            <a:ext cx="5985272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taglia solo dove la distanza semantica è insolitamente alta → </a:t>
            </a:r>
            <a:pPr algn="l" indent="0" marL="0">
              <a:lnSpc>
                <a:spcPts val="2700"/>
              </a:lnSpc>
              <a:buNone/>
            </a:pPr>
            <a:r>
              <a:rPr lang="en-US" sz="17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 Shift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21523" y="1996916"/>
            <a:ext cx="6439972" cy="1617226"/>
          </a:xfrm>
          <a:prstGeom prst="roundRect">
            <a:avLst>
              <a:gd name="adj" fmla="val 57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48813" y="2224207"/>
            <a:ext cx="274629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Vantaggio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648813" y="2695099"/>
            <a:ext cx="5985391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soglia si adatta al documento: nessun parametro fisso da impostare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98352" y="4402574"/>
            <a:ext cx="6110287" cy="219670"/>
          </a:xfrm>
          <a:prstGeom prst="roundRect">
            <a:avLst>
              <a:gd name="adj" fmla="val 42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906" y="4182844"/>
            <a:ext cx="659011" cy="659011"/>
          </a:xfrm>
          <a:prstGeom prst="roundRect">
            <a:avLst>
              <a:gd name="adj" fmla="val 6937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3688" y="4347627"/>
            <a:ext cx="329446" cy="32944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88576" y="5054679"/>
            <a:ext cx="274629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Suddivisione in frasi</a:t>
            </a:r>
            <a:endParaRPr lang="en-US" sz="2150" dirty="0"/>
          </a:p>
        </p:txBody>
      </p:sp>
      <p:sp>
        <p:nvSpPr>
          <p:cNvPr id="15" name="Shape 12"/>
          <p:cNvSpPr/>
          <p:nvPr/>
        </p:nvSpPr>
        <p:spPr>
          <a:xfrm>
            <a:off x="7750969" y="4073128"/>
            <a:ext cx="6110407" cy="219670"/>
          </a:xfrm>
          <a:prstGeom prst="roundRect">
            <a:avLst>
              <a:gd name="adj" fmla="val 42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21523" y="3853398"/>
            <a:ext cx="659011" cy="659011"/>
          </a:xfrm>
          <a:prstGeom prst="roundRect">
            <a:avLst>
              <a:gd name="adj" fmla="val 6937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6305" y="4018181"/>
            <a:ext cx="329446" cy="32944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41193" y="4725233"/>
            <a:ext cx="4095631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Embedding su Finestre di Frasi</a:t>
            </a:r>
            <a:endParaRPr lang="en-US" sz="2150" dirty="0"/>
          </a:p>
        </p:txBody>
      </p:sp>
      <p:sp>
        <p:nvSpPr>
          <p:cNvPr id="19" name="Shape 15"/>
          <p:cNvSpPr/>
          <p:nvPr/>
        </p:nvSpPr>
        <p:spPr>
          <a:xfrm>
            <a:off x="1098352" y="6379488"/>
            <a:ext cx="6110287" cy="219670"/>
          </a:xfrm>
          <a:prstGeom prst="roundRect">
            <a:avLst>
              <a:gd name="adj" fmla="val 42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68906" y="6159758"/>
            <a:ext cx="659011" cy="659011"/>
          </a:xfrm>
          <a:prstGeom prst="roundRect">
            <a:avLst>
              <a:gd name="adj" fmla="val 6937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688" y="6324540"/>
            <a:ext cx="329446" cy="32944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88576" y="7031593"/>
            <a:ext cx="425422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Distanza Semantica tra Finestre</a:t>
            </a:r>
            <a:endParaRPr lang="en-US" sz="2150" dirty="0"/>
          </a:p>
        </p:txBody>
      </p:sp>
      <p:sp>
        <p:nvSpPr>
          <p:cNvPr id="23" name="Shape 18"/>
          <p:cNvSpPr/>
          <p:nvPr/>
        </p:nvSpPr>
        <p:spPr>
          <a:xfrm>
            <a:off x="7750969" y="6050042"/>
            <a:ext cx="6110407" cy="219670"/>
          </a:xfrm>
          <a:prstGeom prst="roundRect">
            <a:avLst>
              <a:gd name="adj" fmla="val 42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21523" y="5830312"/>
            <a:ext cx="659011" cy="659011"/>
          </a:xfrm>
          <a:prstGeom prst="roundRect">
            <a:avLst>
              <a:gd name="adj" fmla="val 6937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6305" y="5995095"/>
            <a:ext cx="329446" cy="32944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41193" y="6702147"/>
            <a:ext cx="3438168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Soglia Percentile Adattiva</a:t>
            </a:r>
            <a:endParaRPr lang="en-US" sz="2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14995"/>
            <a:ext cx="1253490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982980"/>
            <a:ext cx="9813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31965"/>
            <a:ext cx="776978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Chunking: Risultati su SQuAD &amp; NQ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5431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161228"/>
            <a:ext cx="6244709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410" y="3168848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343" y="3312557"/>
            <a:ext cx="16306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Metrica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3120271" y="3312557"/>
            <a:ext cx="10662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647724" y="3312557"/>
            <a:ext cx="21563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≈ Recursive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3819168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343" y="3962876"/>
            <a:ext cx="16306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Hit@1 (SQuAD)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120271" y="3962876"/>
            <a:ext cx="10662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0.9888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647724" y="3962876"/>
            <a:ext cx="21563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0.9906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469487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343" y="4613196"/>
            <a:ext cx="16306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Hit@1 (NQ - 1)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120271" y="4613196"/>
            <a:ext cx="10662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0.8768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647724" y="4613196"/>
            <a:ext cx="21563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0.8816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5119807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343" y="5263515"/>
            <a:ext cx="16306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Hit@1 (NQ - 2)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3120271" y="5263515"/>
            <a:ext cx="10662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0.8768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647724" y="5263515"/>
            <a:ext cx="21563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0.8706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6032897"/>
            <a:ext cx="62447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parità di chunk size, nessun vincitore chiaro.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99521" y="2714744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25" name="Text 23"/>
          <p:cNvSpPr/>
          <p:nvPr/>
        </p:nvSpPr>
        <p:spPr>
          <a:xfrm>
            <a:off x="7939683" y="2594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Fixed ≈ Recursive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939683" y="3175397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Recursive è un Fixed Chunking con più regole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599521" y="411241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28" name="Text 26"/>
          <p:cNvSpPr/>
          <p:nvPr/>
        </p:nvSpPr>
        <p:spPr>
          <a:xfrm>
            <a:off x="7939683" y="39919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Tradeoff Semantico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939683" y="4573072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Semantic Chunking ha overhead di costi non giustificato nel caso medio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7599521" y="587299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31" name="Text 29"/>
          <p:cNvSpPr/>
          <p:nvPr/>
        </p:nvSpPr>
        <p:spPr>
          <a:xfrm>
            <a:off x="7939683" y="5752505"/>
            <a:ext cx="47129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Recursive come Soluzione Go - To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939683" y="6333649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Risolve problemi evidenti del Fixed Chunking, computazionalmente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68849"/>
            <a:ext cx="1650683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336834"/>
            <a:ext cx="137850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ARCHITETTURE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85818"/>
            <a:ext cx="510575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Architettura Naive RAG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692956"/>
            <a:ext cx="680442" cy="6804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6568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Semplicità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14730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Implementazione facile, costi bassi, pochi failure points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692956"/>
            <a:ext cx="680442" cy="6804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36568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414730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Esposto a Hubness e Semantic Collapse su corpora grandi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692956"/>
            <a:ext cx="680442" cy="6804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36568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Sorpresa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414730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molto difficile da battere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generic-domain</a:t>
            </a:r>
            <a:endParaRPr lang="en-US" sz="1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128260"/>
            <a:ext cx="13042821" cy="18324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59919"/>
            <a:ext cx="1650683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327904"/>
            <a:ext cx="137850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ARCHITETTURE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7688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CoT RAG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684026"/>
            <a:ext cx="680442" cy="6804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6479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Chain of Thought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1383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Guida il modello a scomporre un problema per risolverlo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684026"/>
            <a:ext cx="680442" cy="6804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36479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Adattività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41383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Estensione naturale a Naive RAG, il modello ragiona sui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pezzi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mancanti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684026"/>
            <a:ext cx="680442" cy="6804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36479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Tradeoff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41383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Maggiori costi, non necessariamente giustificati; necessità di modelli Large</a:t>
            </a:r>
            <a:endParaRPr lang="en-US" sz="1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119330"/>
            <a:ext cx="13042821" cy="1850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7830" y="632817"/>
            <a:ext cx="1534597" cy="386834"/>
          </a:xfrm>
          <a:prstGeom prst="roundRect">
            <a:avLst>
              <a:gd name="adj" fmla="val 1831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864275" y="696039"/>
            <a:ext cx="128170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ARCHITETTURE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7830" y="1097994"/>
            <a:ext cx="4216360" cy="526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Graph RAG - 1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830" y="1918811"/>
            <a:ext cx="632460" cy="632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7830" y="2796183"/>
            <a:ext cx="263521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Struttura a Grafo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737830" y="3243024"/>
            <a:ext cx="4221599" cy="65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 come nodi, gli archi modellano relazioni semantiche e posizionali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4341" y="1918811"/>
            <a:ext cx="632460" cy="632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04341" y="2796183"/>
            <a:ext cx="263521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Rollup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5204341" y="3243024"/>
            <a:ext cx="4221599" cy="65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Summaries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generati da LLM per ogni comunità</a:t>
            </a:r>
            <a:endParaRPr lang="en-US" sz="1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0852" y="1918811"/>
            <a:ext cx="632460" cy="632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0852" y="2796183"/>
            <a:ext cx="263521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Retrieval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9670852" y="3243024"/>
            <a:ext cx="4221599" cy="65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Coarse to Fine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risolve strutturalmente Hubness e Semantic Collapse</a:t>
            </a:r>
            <a:endParaRPr lang="en-US" sz="1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7202" y="4114205"/>
            <a:ext cx="7975997" cy="34825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79646"/>
            <a:ext cx="1650683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47631"/>
            <a:ext cx="137850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ARCHITETTURE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9661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Graph RAG - 2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658904"/>
            <a:ext cx="453628" cy="453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27367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Ranking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317915"/>
            <a:ext cx="56434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PageRank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identificare la centralità informativa.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4134445"/>
            <a:ext cx="453628" cy="4536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0906" y="42123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Raggruppamento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30906" y="4793456"/>
            <a:ext cx="56434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Leiden Algorithm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definire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communities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609987"/>
            <a:ext cx="453628" cy="4536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30906" y="5687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Cross-Document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530906" y="6268998"/>
            <a:ext cx="56434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 tra riassunti di documenti diversi, risolvono un problema strutturale del chunking</a:t>
            </a:r>
            <a:endParaRPr lang="en-US" sz="1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372" y="2658904"/>
            <a:ext cx="6108740" cy="407241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16192"/>
            <a:ext cx="1151096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984177"/>
            <a:ext cx="87891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RISULTATI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433161"/>
            <a:ext cx="545651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GraphBench &amp; HotpotQA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2778562" y="33402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695343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1474351" y="38696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Praticità d'Uso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436006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 molto blando che devi fare sui dati, hai tutto quello che ti serve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201733" y="33402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695343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5838349" y="3869650"/>
            <a:ext cx="29535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Impatto del Chunking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6962" y="436006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Fornisce i testi originali: puoi controllare il chunking senza scraping complessi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624905" y="33402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3695343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94131" y="3869650"/>
            <a:ext cx="30883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Coerente con il Lavoro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40133" y="436006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L'idea è quella di confermare intuizioni teoriche con risultati sperimentali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482697" y="5958959"/>
            <a:ext cx="76650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 interessano le metriche in sé, ma come le interpreti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9114" y="1008221"/>
            <a:ext cx="717233" cy="231577"/>
          </a:xfrm>
          <a:prstGeom prst="roundRect">
            <a:avLst>
              <a:gd name="adj" fmla="val 20507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2523887" y="1050608"/>
            <a:ext cx="547688" cy="146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RISULTATI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439114" y="1274921"/>
            <a:ext cx="5363885" cy="35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Naive vs CoT: Variazione Intra-Modello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39114" y="1760220"/>
            <a:ext cx="1720716" cy="277127"/>
          </a:xfrm>
          <a:prstGeom prst="roundRect">
            <a:avLst>
              <a:gd name="adj" fmla="val 4619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8950" y="1821782"/>
            <a:ext cx="154004" cy="1540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34289" y="1798721"/>
            <a:ext cx="1335706" cy="200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Δ Kimi (CoT–Naive)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262500" y="1760220"/>
            <a:ext cx="1839227" cy="277127"/>
          </a:xfrm>
          <a:prstGeom prst="roundRect">
            <a:avLst>
              <a:gd name="adj" fmla="val 4619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336" y="1821782"/>
            <a:ext cx="154004" cy="1540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57675" y="1798721"/>
            <a:ext cx="1454217" cy="200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Δ Llama (CoT–Naive)</a:t>
            </a:r>
            <a:endParaRPr lang="en-US" sz="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114" y="2165684"/>
            <a:ext cx="9753600" cy="51334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08553"/>
            <a:ext cx="1151096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76538"/>
            <a:ext cx="87891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RISULTATI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25523"/>
            <a:ext cx="490311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Naive vs CoT: Insights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005" y="2232660"/>
            <a:ext cx="2994184" cy="2994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5420" y="5510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Kimi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00075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 migliora </a:t>
            </a:r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faithfulness 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senza degradare la qualità della risposta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108" y="2232660"/>
            <a:ext cx="2994184" cy="2994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5510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Llama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00075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 </a:t>
            </a:r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peggiora tutto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L'adattività amplifica drift e confonde uno SLM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211" y="2232660"/>
            <a:ext cx="2994184" cy="2994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39626" y="5510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Tradeoff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600075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performance tra Naive e CoT RAG sono simili complessivamente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3469600" y="7066717"/>
            <a:ext cx="76910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Nel RAG anche il modello è un bottleneck prestazionale!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56586"/>
            <a:ext cx="1151096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324570"/>
            <a:ext cx="87891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RISULTATI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7355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GraphRAG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077647"/>
            <a:ext cx="6380559" cy="2979420"/>
          </a:xfrm>
          <a:prstGeom prst="roundRect">
            <a:avLst>
              <a:gd name="adj" fmla="val 31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3085267"/>
            <a:ext cx="636531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28462" y="3228975"/>
            <a:ext cx="2088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Metrica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3578304" y="3228975"/>
            <a:ext cx="8117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Kimi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851321" y="3228975"/>
            <a:ext cx="8117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124337" y="3228975"/>
            <a:ext cx="8155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3735586"/>
            <a:ext cx="6365319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462" y="3879294"/>
            <a:ext cx="2088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answer_correctness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578304" y="3879294"/>
            <a:ext cx="8117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0.345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851321" y="3879294"/>
            <a:ext cx="8117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0.342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124337" y="3879294"/>
            <a:ext cx="8155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-0.003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748808"/>
            <a:ext cx="636531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462" y="4892516"/>
            <a:ext cx="2088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faithfulness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578304" y="4892516"/>
            <a:ext cx="8117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0.771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851321" y="4892516"/>
            <a:ext cx="8117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0.509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124337" y="4892516"/>
            <a:ext cx="8155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-0.262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5399127"/>
            <a:ext cx="636531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28462" y="5542836"/>
            <a:ext cx="2088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evidence_coverage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3578304" y="5542836"/>
            <a:ext cx="8117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0.331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4851321" y="5542836"/>
            <a:ext cx="8117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0.322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6124337" y="5542836"/>
            <a:ext cx="8155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-0.009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93790" y="6312218"/>
            <a:ext cx="638055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GraphRAG Bench — query entity-centric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35372" y="319813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28" name="Text 26"/>
          <p:cNvSpPr/>
          <p:nvPr/>
        </p:nvSpPr>
        <p:spPr>
          <a:xfrm>
            <a:off x="8075533" y="30776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Perché il Peggiore?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075533" y="3658791"/>
            <a:ext cx="57685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Loss indotto dai Summaries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7735372" y="459581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31" name="Text 29"/>
          <p:cNvSpPr/>
          <p:nvPr/>
        </p:nvSpPr>
        <p:spPr>
          <a:xfrm>
            <a:off x="8075533" y="44753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 delle Query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075533" y="5056465"/>
            <a:ext cx="576857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Riscrivendo le stesse query più '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ambigue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 hai incrementi sistematici su tutte le metriche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7735372" y="6037421"/>
            <a:ext cx="61087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Forma delle Query influenza l'architettura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273022"/>
            <a:ext cx="1151096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341007"/>
            <a:ext cx="87891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RISULTATI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7899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HotpotQA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95228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0.731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1366004" y="4984075"/>
            <a:ext cx="30140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Correctness Kimi CoT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35893" y="395228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0.903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807631" y="4984075"/>
            <a:ext cx="30151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Faithfulness Kimi CoT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77995" y="395228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0.729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130076" y="4984075"/>
            <a:ext cx="32544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Correctness Kimi Naive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5593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Anche su benchmark più complesso, il </a:t>
            </a:r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Naive RAG resta competitivo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CoT, invece, migliora il grounding 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518880"/>
            <a:ext cx="1040725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1586865"/>
            <a:ext cx="76854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TABELLE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035850"/>
            <a:ext cx="541805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RAG per Structured Data</a:t>
            </a:r>
            <a:endParaRPr lang="en-US" sz="3550" dirty="0"/>
          </a:p>
        </p:txBody>
      </p:sp>
      <p:sp>
        <p:nvSpPr>
          <p:cNvPr id="6" name="Shape 3"/>
          <p:cNvSpPr/>
          <p:nvPr/>
        </p:nvSpPr>
        <p:spPr>
          <a:xfrm>
            <a:off x="793790" y="29429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60" y="3027998"/>
            <a:ext cx="340162" cy="3401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906" y="3020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530906" y="3511272"/>
            <a:ext cx="28992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Nelle tabelle il significato è dato dalle relazioni riga - colonna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713684" y="29429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8755" y="3027998"/>
            <a:ext cx="340162" cy="3401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50800" y="3020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Text-to-SQL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450800" y="3511272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puoi, è la migliore alternativa; bottleneck: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Linking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505360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860" y="5138618"/>
            <a:ext cx="340162" cy="3401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30906" y="51314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De-strutturazione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1530906" y="5621893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Trasformare dati strutturati in rappresentazioni testuali, rendendoli indicizzabili nelle pipeline RAG progettate per dati non strutturati</a:t>
            </a: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37473"/>
            <a:ext cx="1040725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05458"/>
            <a:ext cx="76854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5444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De-Strutturazione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2161580"/>
            <a:ext cx="13042821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4270" y="2192060"/>
            <a:ext cx="907256" cy="1306949"/>
          </a:xfrm>
          <a:prstGeom prst="roundRect">
            <a:avLst>
              <a:gd name="adj" fmla="val 6469"/>
            </a:avLst>
          </a:prstGeom>
          <a:solidFill>
            <a:srgbClr val="DADB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948" y="2675334"/>
            <a:ext cx="340162" cy="3401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58340" y="2418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Descrizione via LLM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958340" y="2909292"/>
            <a:ext cx="116209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tabelle vengono trasformate in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testo naturale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diversi modi di farlo, distinti per specificità della traduzione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3756303"/>
            <a:ext cx="13042821" cy="137552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4270" y="3786783"/>
            <a:ext cx="907256" cy="1314569"/>
          </a:xfrm>
          <a:prstGeom prst="roundRect">
            <a:avLst>
              <a:gd name="adj" fmla="val 6469"/>
            </a:avLst>
          </a:prstGeom>
          <a:solidFill>
            <a:srgbClr val="DADB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3948" y="4273868"/>
            <a:ext cx="340162" cy="3401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58340" y="4013597"/>
            <a:ext cx="36302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Serializzazione Key–Value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958340" y="4504015"/>
            <a:ext cx="11620976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Cella →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column_header : value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Una tabella diventa una sequenza di 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5358646"/>
            <a:ext cx="13042821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4270" y="5389126"/>
            <a:ext cx="907256" cy="1306949"/>
          </a:xfrm>
          <a:prstGeom prst="roundRect">
            <a:avLst>
              <a:gd name="adj" fmla="val 6469"/>
            </a:avLst>
          </a:prstGeom>
          <a:solidFill>
            <a:srgbClr val="DADBF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3948" y="5872401"/>
            <a:ext cx="340162" cy="3401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58340" y="56159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Criticità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1958340" y="6106358"/>
            <a:ext cx="116209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Tramite rewriting introduci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Loss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mentre la serializzazione non risolve il problema di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3400425" y="7066717"/>
            <a:ext cx="782955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Riusabilità rimane il vantaggio fondamentale</a:t>
            </a:r>
            <a:endParaRPr lang="en-US" sz="2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35104" y="999768"/>
            <a:ext cx="608886" cy="214193"/>
          </a:xfrm>
          <a:prstGeom prst="roundRect">
            <a:avLst>
              <a:gd name="adj" fmla="val 2082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2814757" y="1039535"/>
            <a:ext cx="449580" cy="13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35104" y="1245037"/>
            <a:ext cx="6180653" cy="41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HybridQA: Risultati Retrieval Tabellare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35104" y="1776413"/>
            <a:ext cx="1268623" cy="260240"/>
          </a:xfrm>
          <a:prstGeom prst="roundRect">
            <a:avLst>
              <a:gd name="adj" fmla="val 49192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465" y="1834223"/>
            <a:ext cx="144620" cy="144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12291" y="1812567"/>
            <a:ext cx="907074" cy="18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Sparse Hit@5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100139" y="1776413"/>
            <a:ext cx="1236045" cy="260240"/>
          </a:xfrm>
          <a:prstGeom prst="roundRect">
            <a:avLst>
              <a:gd name="adj" fmla="val 49192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501" y="1834223"/>
            <a:ext cx="144620" cy="1446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77327" y="1812567"/>
            <a:ext cx="874497" cy="18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Dense Hit@5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5432598" y="1776413"/>
            <a:ext cx="1264480" cy="260240"/>
          </a:xfrm>
          <a:prstGeom prst="roundRect">
            <a:avLst>
              <a:gd name="adj" fmla="val 49192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959" y="1834223"/>
            <a:ext cx="144620" cy="1446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09785" y="1812567"/>
            <a:ext cx="902931" cy="18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Hybrid Hit@5</a:t>
            </a:r>
            <a:endParaRPr lang="en-US" sz="7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104" y="2157169"/>
            <a:ext cx="9159240" cy="482065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40718" y="7022425"/>
            <a:ext cx="3148846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LM-Based è </a:t>
            </a:r>
            <a:pPr algn="ctr" indent="0" marL="0">
              <a:lnSpc>
                <a:spcPts val="1600"/>
              </a:lnSpc>
              <a:buNone/>
            </a:pPr>
            <a:r>
              <a:rPr lang="en-US" sz="1300" b="1" i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sistematicamente </a:t>
            </a:r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migliore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4494" y="741521"/>
            <a:ext cx="1385054" cy="370642"/>
          </a:xfrm>
          <a:prstGeom prst="roundRect">
            <a:avLst>
              <a:gd name="adj" fmla="val 18506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836890" y="802719"/>
            <a:ext cx="1140262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4494" y="1185624"/>
            <a:ext cx="4082891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Takeaway Finali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4494" y="1971437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992" y="2009656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57432" y="2041565"/>
            <a:ext cx="365295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Naive RAG = Soluzione Go-To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57432" y="2470547"/>
            <a:ext cx="1255847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Ottimo in generic-domain. Recursive Chunking + LLM è un setup robusto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4494" y="3148251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92" y="3186470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57432" y="3218378"/>
            <a:ext cx="332077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CoT RAG = Upgrade Mirato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57432" y="3647361"/>
            <a:ext cx="1255847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Migliori performance, non sempre giustificate dai costi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4494" y="4325064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92" y="4363283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57432" y="4395192"/>
            <a:ext cx="359128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Hierarchical ≠ Plug-and-Play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57432" y="4824174"/>
            <a:ext cx="1255847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Introduci </a:t>
            </a:r>
            <a:pPr algn="l"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Loss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estremamente dipendente da dominio e query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4494" y="5501878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92" y="5540097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57432" y="5572006"/>
            <a:ext cx="348269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Data: Riusiabilità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57432" y="6000988"/>
            <a:ext cx="1255847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Text-to-SQL migliore, de-strutturare è efficace e veloce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4494" y="6678692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92" y="6716911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57432" y="674882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 delle Query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57432" y="7177802"/>
            <a:ext cx="1255847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Rewriting può migliorare di molto le performance di un'architettura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13861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Grazie per l'Attenzione</a:t>
            </a:r>
            <a:endParaRPr lang="en-US" sz="8900" dirty="0"/>
          </a:p>
        </p:txBody>
      </p:sp>
      <p:sp>
        <p:nvSpPr>
          <p:cNvPr id="4" name="Shape 1"/>
          <p:cNvSpPr/>
          <p:nvPr/>
        </p:nvSpPr>
        <p:spPr>
          <a:xfrm>
            <a:off x="793790" y="5489377"/>
            <a:ext cx="1538883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5" name="Text 2"/>
          <p:cNvSpPr/>
          <p:nvPr/>
        </p:nvSpPr>
        <p:spPr>
          <a:xfrm>
            <a:off x="929878" y="5557361"/>
            <a:ext cx="126670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2026-03-16T08:43:39Z</dcterms:created>
  <dcterms:modified xsi:type="dcterms:W3CDTF">2026-03-16T08:43:39Z</dcterms:modified>
</cp:coreProperties>
</file>